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3319272" cy="6858000"/>
          </a:xfrm>
          <a:prstGeom prst="rect">
            <a:avLst/>
          </a:prstGeom>
          <a:solidFill>
            <a:srgbClr val="141A47"/>
          </a:solidFill>
          <a:ln/>
        </p:spPr>
      </p:sp>
      <p:sp>
        <p:nvSpPr>
          <p:cNvPr id="3" name="Shape 1"/>
          <p:cNvSpPr/>
          <p:nvPr/>
        </p:nvSpPr>
        <p:spPr>
          <a:xfrm>
            <a:off x="9189720" y="4937760"/>
            <a:ext cx="292608" cy="1920240"/>
          </a:xfrm>
          <a:prstGeom prst="rect">
            <a:avLst/>
          </a:prstGeom>
          <a:solidFill>
            <a:srgbClr val="394086"/>
          </a:solidFill>
          <a:ln/>
        </p:spPr>
      </p:sp>
      <p:sp>
        <p:nvSpPr>
          <p:cNvPr id="4" name="Shape 2"/>
          <p:cNvSpPr/>
          <p:nvPr/>
        </p:nvSpPr>
        <p:spPr>
          <a:xfrm>
            <a:off x="9592056" y="3749040"/>
            <a:ext cx="292608" cy="3108960"/>
          </a:xfrm>
          <a:prstGeom prst="rect">
            <a:avLst/>
          </a:prstGeom>
          <a:solidFill>
            <a:srgbClr val="394086"/>
          </a:solidFill>
          <a:ln/>
        </p:spPr>
      </p:sp>
      <p:sp>
        <p:nvSpPr>
          <p:cNvPr id="5" name="Shape 3"/>
          <p:cNvSpPr/>
          <p:nvPr/>
        </p:nvSpPr>
        <p:spPr>
          <a:xfrm>
            <a:off x="9994392" y="5394960"/>
            <a:ext cx="292608" cy="1463040"/>
          </a:xfrm>
          <a:prstGeom prst="rect">
            <a:avLst/>
          </a:prstGeom>
          <a:solidFill>
            <a:srgbClr val="394086"/>
          </a:solidFill>
          <a:ln/>
        </p:spPr>
      </p:sp>
      <p:sp>
        <p:nvSpPr>
          <p:cNvPr id="6" name="Shape 4"/>
          <p:cNvSpPr/>
          <p:nvPr/>
        </p:nvSpPr>
        <p:spPr>
          <a:xfrm>
            <a:off x="10396728" y="2926080"/>
            <a:ext cx="292608" cy="3931920"/>
          </a:xfrm>
          <a:prstGeom prst="rect">
            <a:avLst/>
          </a:prstGeom>
          <a:solidFill>
            <a:srgbClr val="E85D4C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4297680"/>
            <a:ext cx="292608" cy="2560320"/>
          </a:xfrm>
          <a:prstGeom prst="rect">
            <a:avLst/>
          </a:prstGeom>
          <a:solidFill>
            <a:srgbClr val="394086"/>
          </a:solidFill>
          <a:ln/>
        </p:spPr>
      </p:sp>
      <p:sp>
        <p:nvSpPr>
          <p:cNvPr id="8" name="Shape 6"/>
          <p:cNvSpPr/>
          <p:nvPr/>
        </p:nvSpPr>
        <p:spPr>
          <a:xfrm>
            <a:off x="11201400" y="3291840"/>
            <a:ext cx="292608" cy="3566160"/>
          </a:xfrm>
          <a:prstGeom prst="rect">
            <a:avLst/>
          </a:prstGeom>
          <a:solidFill>
            <a:srgbClr val="394086"/>
          </a:solidFill>
          <a:ln/>
        </p:spPr>
      </p:sp>
      <p:sp>
        <p:nvSpPr>
          <p:cNvPr id="9" name="Shape 7"/>
          <p:cNvSpPr/>
          <p:nvPr/>
        </p:nvSpPr>
        <p:spPr>
          <a:xfrm>
            <a:off x="11603736" y="4754880"/>
            <a:ext cx="292608" cy="2103120"/>
          </a:xfrm>
          <a:prstGeom prst="rect">
            <a:avLst/>
          </a:prstGeom>
          <a:solidFill>
            <a:srgbClr val="394086"/>
          </a:solidFill>
          <a:ln/>
        </p:spPr>
      </p:sp>
      <p:sp>
        <p:nvSpPr>
          <p:cNvPr id="10" name="Shape 8"/>
          <p:cNvSpPr/>
          <p:nvPr/>
        </p:nvSpPr>
        <p:spPr>
          <a:xfrm>
            <a:off x="8869680" y="0"/>
            <a:ext cx="0" cy="6858000"/>
          </a:xfrm>
          <a:prstGeom prst="line">
            <a:avLst/>
          </a:prstGeom>
          <a:noFill/>
          <a:ln w="31750">
            <a:solidFill>
              <a:srgbClr val="E85D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331720"/>
            <a:ext cx="502920" cy="73152"/>
          </a:xfrm>
          <a:prstGeom prst="rect">
            <a:avLst/>
          </a:prstGeom>
          <a:solidFill>
            <a:srgbClr val="E85D4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542032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 University</a:t>
            </a:r>
            <a:endParaRPr lang="en-US" sz="4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Rankings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1605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separates elite institutions from everyone else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989320"/>
            <a:ext cx="2743200" cy="0"/>
          </a:xfrm>
          <a:prstGeom prst="line">
            <a:avLst/>
          </a:prstGeom>
          <a:noFill/>
          <a:ln w="12700">
            <a:solidFill>
              <a:srgbClr val="3C4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61081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79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Higher Education World University Rankings  ·  2,191 institutions  ·  115 countries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3840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ANALYSIS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86384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is the dominant driver of overall score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2700">
            <a:solidFill>
              <a:srgbClr val="DADD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690372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pic>
        <p:nvPicPr>
          <p:cNvPr id="8" name="Image 0" descr="pillar_correlation_heat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801368"/>
            <a:ext cx="6501384" cy="44897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589520" y="1600200"/>
            <a:ext cx="4142232" cy="4892040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63840" y="18745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OVERALL SCORE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863840" y="2286000"/>
            <a:ext cx="3593592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3774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3774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27797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strongest predictor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863840" y="3337560"/>
            <a:ext cx="3593592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34290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0" y="34290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0.86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8313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second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863840" y="4389120"/>
            <a:ext cx="3593592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0" y="4480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0" y="44805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8828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tightly linked to score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863840" y="5440680"/>
            <a:ext cx="3593592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56235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correlations among the five scoring pillars and the overall score only — institutional traits like staff ratio and international mix are covered separately.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519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University Rankings · EDA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33856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3840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COMPOSITION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86384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pillars are not on a comparable footing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2700">
            <a:solidFill>
              <a:srgbClr val="DADD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80924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pic>
        <p:nvPicPr>
          <p:cNvPr id="8" name="Image 0" descr="pillar_distribu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801368"/>
            <a:ext cx="7690104" cy="44897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23960" y="1600200"/>
            <a:ext cx="2907792" cy="4892040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098280" y="1965960"/>
            <a:ext cx="292608" cy="73152"/>
          </a:xfrm>
          <a:prstGeom prst="rect">
            <a:avLst/>
          </a:prstGeom>
          <a:solidFill>
            <a:srgbClr val="E85D4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09828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run hot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98280" y="2532888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score far higher on average than Research or Teaching — a mid-tier school can post a strong citations score while being nowhere near research-competitive.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98280" y="4297680"/>
            <a:ext cx="2377440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098280" y="4480560"/>
            <a:ext cx="29260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09828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vs. spread out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098280" y="504748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&amp; Industry Income spread broadly and separate institutions poorly. Research &amp; Teaching sit compressed at the bottom with long elite tails.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519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University Rankings · EDA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3840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PACK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86384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very tight cluster at the very top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2700">
            <a:solidFill>
              <a:srgbClr val="DADD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653796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pic>
        <p:nvPicPr>
          <p:cNvPr id="8" name="Image 0" descr="top20_universit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801368"/>
            <a:ext cx="6135624" cy="44897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69480" y="1600200"/>
            <a:ext cx="4462272" cy="489204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543800" y="1810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1.9-point spread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230428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(#1, 98.2) to Caltech (#7, 96.3) — the leading pack is a tight cluster fighting over fractions of a point, not a steep drop from a lone leader.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43800" y="3127248"/>
            <a:ext cx="3931920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43800" y="3273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MAKES THE TOP 20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4380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5438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5844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092440" y="38587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171 ranked US universities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543800" y="43891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5D4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54380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4361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Kingdom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92440" y="46360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109 ranked UK universities — Oxford, Cambridge, Imperial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543800" y="51663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6B708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4380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92440" y="513892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of world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92440" y="54132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 Zurich, Tsinghua, Peking, NUS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519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University Rankings · EDA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33856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3840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SYSTEMS — VOLUME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86384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the most ranked universities?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2700">
            <a:solidFill>
              <a:srgbClr val="DADD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1127455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pic>
        <p:nvPicPr>
          <p:cNvPr id="8" name="Image 0" descr="country_coun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801368"/>
            <a:ext cx="10872216" cy="448970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6519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University Rankings · EDA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33856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3840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SYSTEMS — QUALITY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86384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and quality decouple sharply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2700">
            <a:solidFill>
              <a:srgbClr val="DADD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690372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pic>
        <p:nvPicPr>
          <p:cNvPr id="8" name="Image 0" descr="country_avg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801368"/>
            <a:ext cx="6501384" cy="44897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589520" y="1600200"/>
            <a:ext cx="4142232" cy="4892040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63840" y="17830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10 ranked universities per country, so one or two outliers can't top the table.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63840" y="2359152"/>
            <a:ext cx="3611880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5237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Netherlands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52374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279806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quality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30998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Switzerland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966960" y="309981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57.1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36758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Belgium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966960" y="367588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56.1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2519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966960" y="425196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0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5262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 unis, ranks 7th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8280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Kingdom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966960" y="482803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0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48.1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10235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 unis, ranks 10th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3840" y="5422392"/>
            <a:ext cx="3611880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63840" y="5550408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systems rank many mid-tier schools alongside their flagships, pulling the average down — headcount alone is a poor quality proxy.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519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University Rankings · EDA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133856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3840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COMMON ASSUMPTION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86384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Student-staff ratio is not a useful quality signal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2700">
            <a:solidFill>
              <a:srgbClr val="DADD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653796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pic>
        <p:nvPicPr>
          <p:cNvPr id="8" name="Image 0" descr="staff_ratio_vs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801368"/>
            <a:ext cx="6135624" cy="44897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69480" y="1600200"/>
            <a:ext cx="4462272" cy="489204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543800" y="20116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−0.076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2880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ESSENTIALLY UNCORRELATED WITH OVERALL SCORE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543800" y="3429000"/>
            <a:ext cx="3931920" cy="0"/>
          </a:xfrm>
          <a:prstGeom prst="line">
            <a:avLst/>
          </a:prstGeom>
          <a:noFill/>
          <a:ln w="12700">
            <a:solidFill>
              <a:srgbClr val="EBED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43800" y="365760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classes are a conventional proxy for teaching quality. The data doesn't support that assumption at the institutional level — though the trendline does show a slight dip in score as students-per-staff increases.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519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University Rankings · EDA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0"/>
            <a:ext cx="4114800" cy="4114800"/>
          </a:xfrm>
          <a:prstGeom prst="roundRect">
            <a:avLst>
              <a:gd name="adj" fmla="val 50000"/>
            </a:avLst>
          </a:prstGeom>
          <a:solidFill>
            <a:srgbClr val="141A4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30352" y="713232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5D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48132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is the dominant driver of rank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481328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0.90, and the largest top-100-vs-rest gap (+51.9 points). Elite status is fundamentally a research phenomenon.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5D4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4231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Internationalization is the most actionable trait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4231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0.52 is a moderate correlation — it's the trait most responsive to short-term policy (admissions, recruitment), unlike research capacity, which takes years to build.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3924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5D4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364992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and quality decouple nationally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336499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(171 unis) and UK (109) lead on count but sit 7th (53.2) and 10th (48.1) on average score, behind the Netherlands (65.2), Switzerland (57.1) and Belgium (56.1) — restricted to countries with 10+ ranked universities.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33425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5D4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306824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Pillars aren't equally discriminating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4306824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and Industry Income are broadly distributed and separate institutions poorly; Research and Teaching are compressed at the bottom with long elite tails.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2760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5D4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276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2486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Student-staff ratio is not a useful quality proxy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5248656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−0.076, essentially uncorrelated with overall score — despite being a common admissions talking point.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2026-09-25T08:17:58Z</dcterms:created>
  <dcterms:modified xsi:type="dcterms:W3CDTF">2026-09-25T08:17:58Z</dcterms:modified>
</cp:coreProperties>
</file>