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3319272" cy="685800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9189720" y="4937760"/>
            <a:ext cx="292608" cy="1920240"/>
          </a:xfrm>
          <a:prstGeom prst="rect">
            <a:avLst/>
          </a:prstGeom>
          <a:solidFill>
            <a:srgbClr val="394086"/>
          </a:solidFill>
          <a:ln/>
        </p:spPr>
      </p:sp>
      <p:sp>
        <p:nvSpPr>
          <p:cNvPr id="4" name="Shape 2"/>
          <p:cNvSpPr/>
          <p:nvPr/>
        </p:nvSpPr>
        <p:spPr>
          <a:xfrm>
            <a:off x="9592056" y="3749040"/>
            <a:ext cx="292608" cy="3108960"/>
          </a:xfrm>
          <a:prstGeom prst="rect">
            <a:avLst/>
          </a:prstGeom>
          <a:solidFill>
            <a:srgbClr val="394086"/>
          </a:solidFill>
          <a:ln/>
        </p:spPr>
      </p:sp>
      <p:sp>
        <p:nvSpPr>
          <p:cNvPr id="5" name="Shape 3"/>
          <p:cNvSpPr/>
          <p:nvPr/>
        </p:nvSpPr>
        <p:spPr>
          <a:xfrm>
            <a:off x="9994392" y="5394960"/>
            <a:ext cx="292608" cy="1463040"/>
          </a:xfrm>
          <a:prstGeom prst="rect">
            <a:avLst/>
          </a:prstGeom>
          <a:solidFill>
            <a:srgbClr val="394086"/>
          </a:solidFill>
          <a:ln/>
        </p:spPr>
      </p:sp>
      <p:sp>
        <p:nvSpPr>
          <p:cNvPr id="6" name="Shape 4"/>
          <p:cNvSpPr/>
          <p:nvPr/>
        </p:nvSpPr>
        <p:spPr>
          <a:xfrm>
            <a:off x="10396728" y="2926080"/>
            <a:ext cx="292608" cy="393192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7" name="Shape 5"/>
          <p:cNvSpPr/>
          <p:nvPr/>
        </p:nvSpPr>
        <p:spPr>
          <a:xfrm>
            <a:off x="10799064" y="4297680"/>
            <a:ext cx="292608" cy="2560320"/>
          </a:xfrm>
          <a:prstGeom prst="rect">
            <a:avLst/>
          </a:prstGeom>
          <a:solidFill>
            <a:srgbClr val="394086"/>
          </a:solidFill>
          <a:ln/>
        </p:spPr>
      </p:sp>
      <p:sp>
        <p:nvSpPr>
          <p:cNvPr id="8" name="Shape 6"/>
          <p:cNvSpPr/>
          <p:nvPr/>
        </p:nvSpPr>
        <p:spPr>
          <a:xfrm>
            <a:off x="11201400" y="3291840"/>
            <a:ext cx="292608" cy="3566160"/>
          </a:xfrm>
          <a:prstGeom prst="rect">
            <a:avLst/>
          </a:prstGeom>
          <a:solidFill>
            <a:srgbClr val="394086"/>
          </a:solidFill>
          <a:ln/>
        </p:spPr>
      </p:sp>
      <p:sp>
        <p:nvSpPr>
          <p:cNvPr id="9" name="Shape 7"/>
          <p:cNvSpPr/>
          <p:nvPr/>
        </p:nvSpPr>
        <p:spPr>
          <a:xfrm>
            <a:off x="11603736" y="4754880"/>
            <a:ext cx="292608" cy="2103120"/>
          </a:xfrm>
          <a:prstGeom prst="rect">
            <a:avLst/>
          </a:prstGeom>
          <a:solidFill>
            <a:srgbClr val="394086"/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31750">
            <a:solidFill>
              <a:srgbClr val="E85D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331720"/>
            <a:ext cx="502920" cy="73152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542032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University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Rankings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1605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separates elite institutions from everyone else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989320"/>
            <a:ext cx="2743200" cy="0"/>
          </a:xfrm>
          <a:prstGeom prst="line">
            <a:avLst/>
          </a:prstGeom>
          <a:noFill/>
          <a:ln w="12700">
            <a:solidFill>
              <a:srgbClr val="3C448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61081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7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Higher Education World University Rankings  ·  2,191 institutions  ·  115 countries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3840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is the dominant driver of overall score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ADD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690372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0" descr="pillar_correlation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801368"/>
            <a:ext cx="6501384" cy="448970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89520" y="1600200"/>
            <a:ext cx="4142232" cy="4892040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863840" y="1874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OVERALL SCORE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863840" y="2286000"/>
            <a:ext cx="3593592" cy="0"/>
          </a:xfrm>
          <a:prstGeom prst="line">
            <a:avLst/>
          </a:prstGeom>
          <a:noFill/>
          <a:ln w="12700">
            <a:solidFill>
              <a:srgbClr val="EBED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0" y="2377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0" y="2377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27797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strongest predictor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863840" y="3337560"/>
            <a:ext cx="3593592" cy="0"/>
          </a:xfrm>
          <a:prstGeom prst="line">
            <a:avLst/>
          </a:prstGeom>
          <a:noFill/>
          <a:ln w="12700">
            <a:solidFill>
              <a:srgbClr val="EBED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63840" y="3429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0" y="34290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7863840" y="38313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second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863840" y="4389120"/>
            <a:ext cx="3593592" cy="0"/>
          </a:xfrm>
          <a:prstGeom prst="line">
            <a:avLst/>
          </a:prstGeom>
          <a:noFill/>
          <a:ln w="12700">
            <a:solidFill>
              <a:srgbClr val="EBEDF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863840" y="4480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0" y="4480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7863840" y="48828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tightly linked to score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863840" y="5440680"/>
            <a:ext cx="3593592" cy="0"/>
          </a:xfrm>
          <a:prstGeom prst="line">
            <a:avLst/>
          </a:prstGeom>
          <a:noFill/>
          <a:ln w="12700">
            <a:solidFill>
              <a:srgbClr val="EBEDF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63840" y="56235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correlations among the five scoring pillars and the overall score only — institutional traits like staff ratio and international mix are covered separately.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University Rankings · EDA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3840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COMPOSITION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pillars are not on a comparable footing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ADD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80924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0" descr="pillar_distribu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801368"/>
            <a:ext cx="7690104" cy="448970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823960" y="1600200"/>
            <a:ext cx="2907792" cy="4892040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098280" y="1965960"/>
            <a:ext cx="292608" cy="73152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09828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run hot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098280" y="2532888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score far higher on average than Research or Teaching — a mid-tier school can post a strong citations score while being nowhere near research-competitive.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098280" y="4297680"/>
            <a:ext cx="2377440" cy="0"/>
          </a:xfrm>
          <a:prstGeom prst="line">
            <a:avLst/>
          </a:prstGeom>
          <a:noFill/>
          <a:ln w="12700">
            <a:solidFill>
              <a:srgbClr val="EBEDF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098280" y="4480560"/>
            <a:ext cx="292608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098280" y="4663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vs. spread out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098280" y="5047488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&amp; Industry Income spread broadly and separate institutions poorly. Research &amp; Teaching sit compressed at the bottom with long elite tails.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University Rankings · EDA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3840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LEADING PACK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very tight cluster at the very top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ADD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653796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0" descr="top20_universit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801368"/>
            <a:ext cx="6135624" cy="448970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69480" y="1600200"/>
            <a:ext cx="4462272" cy="489204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543800" y="18105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1.9-point spread</a:t>
            </a:r>
            <a:endParaRPr lang="en-US" sz="2300" dirty="0"/>
          </a:p>
        </p:txBody>
      </p:sp>
      <p:sp>
        <p:nvSpPr>
          <p:cNvPr id="11" name="Text 8"/>
          <p:cNvSpPr txBox="1"/>
          <p:nvPr/>
        </p:nvSpPr>
        <p:spPr>
          <a:xfrm>
            <a:off x="7543800" y="2304288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(#1, 98.2) to Caltech (#7, 96.3) — the leading pack is a tight cluster fighting over fractions of a point, not a steep drop from a lone leader.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543800" y="3127248"/>
            <a:ext cx="3931920" cy="0"/>
          </a:xfrm>
          <a:prstGeom prst="line">
            <a:avLst/>
          </a:prstGeom>
          <a:noFill/>
          <a:ln w="12700">
            <a:solidFill>
              <a:srgbClr val="EBED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43800" y="3273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MAKES THE TOP 20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543800" y="36118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54380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35844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092440" y="38587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171 ranked US universities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543800" y="43891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85D4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54380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092440" y="4361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092440" y="46360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109 ranked UK universities — Oxford, Cambridge, Imperial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543800" y="51663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B708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54380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092440" y="51389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of world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092440" y="541324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Zurich, Tsinghua, Peking, NUS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University Rankings · EDA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3840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SYSTEMS — VOLUME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has the most ranked universities?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ADD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11274552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0" descr="country_cou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801368"/>
            <a:ext cx="10872216" cy="448970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University Rankings · EDA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3840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SYSTEMS — QUALITY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and quality decouple sharply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ADD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690372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0" descr="country_avg_sc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801368"/>
            <a:ext cx="6501384" cy="448970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89520" y="1600200"/>
            <a:ext cx="4142232" cy="4892040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863840" y="17830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10 ranked universities per country, so one or two outliers can't top the table.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863840" y="2359152"/>
            <a:ext cx="3611880" cy="0"/>
          </a:xfrm>
          <a:prstGeom prst="line">
            <a:avLst/>
          </a:prstGeom>
          <a:noFill/>
          <a:ln w="12700">
            <a:solidFill>
              <a:srgbClr val="EBED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0" y="25237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966960" y="252374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5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27980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quality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7863840" y="30998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Switzerland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966960" y="309981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5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57.1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863840" y="36758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966960" y="367588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5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56.1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863840" y="42519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966960" y="4251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70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53.2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863840" y="45262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unis, ranks 7th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7863840" y="48280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966960" y="482803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70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48.1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863840" y="510235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 unis, ranks 10th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863840" y="5422392"/>
            <a:ext cx="3611880" cy="0"/>
          </a:xfrm>
          <a:prstGeom prst="line">
            <a:avLst/>
          </a:prstGeom>
          <a:noFill/>
          <a:ln w="12700">
            <a:solidFill>
              <a:srgbClr val="EBEDF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863840" y="555040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systems rank many mid-tier schools alongside their flagships, pulling the average down — headcount alone is a poor quality proxy.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University Rankings · EDA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3840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 COMMON ASSUMPTION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Student-staff ratio is not a useful quality signal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ADD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653796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0" descr="staff_ratio_vs_sc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801368"/>
            <a:ext cx="6135624" cy="448970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69480" y="1600200"/>
            <a:ext cx="4462272" cy="489204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543800" y="20116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5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−0.076</a:t>
            </a:r>
            <a:endParaRPr lang="en-US" sz="4600" dirty="0"/>
          </a:p>
        </p:txBody>
      </p:sp>
      <p:sp>
        <p:nvSpPr>
          <p:cNvPr id="11" name="Text 8"/>
          <p:cNvSpPr txBox="1"/>
          <p:nvPr/>
        </p:nvSpPr>
        <p:spPr>
          <a:xfrm>
            <a:off x="7543800" y="2880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UNCORRELATED WITH OVERALL SCORE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543800" y="3429000"/>
            <a:ext cx="3931920" cy="0"/>
          </a:xfrm>
          <a:prstGeom prst="line">
            <a:avLst/>
          </a:prstGeom>
          <a:noFill/>
          <a:ln w="12700">
            <a:solidFill>
              <a:srgbClr val="EBED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43800" y="365760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classes are a conventional proxy for teaching quality. The data doesn't support that assumption at the institutional level — though the trendline does show a slight dip in score as students-per-staff increases.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University Rankings · EDA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114800" cy="4114800"/>
          </a:xfrm>
          <a:prstGeom prst="roundRect">
            <a:avLst>
              <a:gd name="adj" fmla="val 50000"/>
            </a:avLst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1323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85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48132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is the dominant driver of rank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481328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0.90, and the largest top-100-vs-rest gap (+51.9 points). Elite status is fundamentally a research phenomenon.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85D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4231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Internationalization may be a promising lever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4231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0.52 (share of international students) is moderate, so it may prove a good aspect to build: diversity can be grown through admissions and recruitment far faster than research capacity.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85D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36499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and quality decouple nationally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3364992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(171 unis) and UK (109) lead on count but sit 7th (53.2) and 10th (48.1) on average score, behind the Netherlands (65.2), Switzerland (57.1) and Belgium (56.1) — restricted to countries with 10+ ranked universities.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33425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85D4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306824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 aren't equally discriminating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4306824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and Industry Income are broadly distributed and separate institutions poorly; Research and Teaching are compressed at the bottom with long elite tails.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2760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85D4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5276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24865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Student-staff ratio is not a useful quality proxy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5248656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−0.076, essentially uncorrelated with overall score — despite being a common admissions talking point.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2026-09-25T08:17:58Z</dcterms:created>
  <dcterms:modified xsi:type="dcterms:W3CDTF">2026-09-25T08:17:58Z</dcterms:modified>
</cp:coreProperties>
</file>